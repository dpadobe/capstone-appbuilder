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23"/>
    <p:restoredTop sz="94610"/>
  </p:normalViewPr>
  <p:slideViewPr>
    <p:cSldViewPr snapToGrid="0" snapToObjects="1">
      <p:cViewPr varScale="1">
        <p:scale>
          <a:sx n="207" d="100"/>
          <a:sy n="207" d="100"/>
        </p:scale>
        <p:origin x="70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7918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Badge Manager is our App Builder capstone for Apex Parts Supply — an industrial distributor. It spans Commerce Admin, App Builder, and the EDS storefront PDP.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minutes total. Business story first, then live demo, then learnings, then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APS is our fictional merchant. They sell industrial parts B2B. Buyers are professionals who know exactly what part they need — they search, open the PDP, and make a yes/no decision quickly.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problem. APS runs promotions — clearance, limited stock, new arrivals. But the PDP gives buyers no signal. Professionals do not browse; they land on the PDP and decide in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solution is Badge Manager. Two modes: rule-based (automated, runs on every product save event) and manual assignment (override for special cases). Rules always take priority over manual assignments.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KPIs: clearance velocity, conversion lift on promos, PDP engagement, and reduced support queries. The badge signal directly closes the information gap that causes buyers to delay or leave.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surfaces, one data flow. Admin UI SDK for configuration. App Builder for all backend logic and persistence. EDS storefront calls product-badge at page load. The event consumer runs independently, triggered by I/O Events when a product is saved in Commerce.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step 1. Navigate to Apps &gt; Badge Manager in Commerce Admin. This is embedded via Admin UI SDK as a left-nav extension. Create a rule: Discount &gt;= 30%, badge = Clearance, priority 1. Hit Save Rule and verify it appears in the grid below.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step 2 — the App Builder layer. 12 actions total. Save a product in Commerce Admin to trigger the event consumer. To see logs: Developer Console &gt; App Builder Logs (filter by action name). For event delivery: Developer Console &gt; DP Capstone Event &gt; Debug Tracing. A 200 confirms the consumer 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step 3 — the storefront. APS-4848 is our demo product. Navigate to its PDP. The badge chip appears below the product title. This is a pure JS fetch at page load — no page rebuild or deployment needed to update badge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design choices. Micro API: one action per operation, independently deployable. We can update product-badge without redeploying all 12 actions. CORS: web-custom-options was critical — without it, the runtime merges its own wildcard header with ours causing a browser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challenges, two learnings. CORS took the most back-and-forth — web-custom-options was the fix. IMS token is WIP. Scaffolding: aio app init creates an app Commerce will reject. And the CLI log command is unreliable — Developer Console is the right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for questions. The repos are on GitHub. The README has full setup instructions, the architecture diagram, and the micro API deploy commands.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731520"/>
            <a:ext cx="2926080" cy="2926080"/>
          </a:xfrm>
          <a:prstGeom prst="ellipse">
            <a:avLst/>
          </a:prstGeom>
          <a:solidFill>
            <a:srgbClr val="CC0000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548640" y="3474720"/>
            <a:ext cx="2194560" cy="2194560"/>
          </a:xfrm>
          <a:prstGeom prst="ellipse">
            <a:avLst/>
          </a:prstGeom>
          <a:solidFill>
            <a:srgbClr val="2E7D52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Badge Manager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Adobe Commerce App Builder  ·  ACCS Capstone Challenge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914400" cy="32004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94436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Parts Supply (APS)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33101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Dharmendra Patri  ·  ACCS Cohort  ·  June 2026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950208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3D52A8">
              <a:alpha val="50000"/>
            </a:srgbClr>
          </a:solidFill>
          <a:ln w="12700">
            <a:solidFill>
              <a:srgbClr val="3D52A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39502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 Admin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42032" y="3950208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2E7D52">
              <a:alpha val="50000"/>
            </a:srgbClr>
          </a:solidFill>
          <a:ln w="12700">
            <a:solidFill>
              <a:srgbClr val="2E7D52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542032" y="39502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Builder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26864" y="3950208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B85C00">
              <a:alpha val="50000"/>
            </a:srgbClr>
          </a:solidFill>
          <a:ln w="12700">
            <a:solidFill>
              <a:srgbClr val="B85C00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26864" y="39502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EDS Storefront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74320" y="1417320"/>
            <a:ext cx="2011680" cy="3200400"/>
          </a:xfrm>
          <a:prstGeom prst="roundRect">
            <a:avLst>
              <a:gd name="adj" fmla="val 5455"/>
            </a:avLst>
          </a:prstGeom>
          <a:solidFill>
            <a:srgbClr val="F5F7FA"/>
          </a:solidFill>
          <a:ln w="12700">
            <a:solidFill>
              <a:srgbClr val="E4E8E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0120" y="1572768"/>
            <a:ext cx="640080" cy="640080"/>
          </a:xfrm>
          <a:prstGeom prst="ellipse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15727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2377440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CC000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7889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&amp; Solution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333756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 business context and the Badge Manager solution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23160" y="1417320"/>
            <a:ext cx="2011680" cy="3200400"/>
          </a:xfrm>
          <a:prstGeom prst="roundRect">
            <a:avLst>
              <a:gd name="adj" fmla="val 5455"/>
            </a:avLst>
          </a:prstGeom>
          <a:solidFill>
            <a:srgbClr val="F5F7FA"/>
          </a:solidFill>
          <a:ln w="12700">
            <a:solidFill>
              <a:srgbClr val="E4E8E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108960" y="1572768"/>
            <a:ext cx="640080" cy="640080"/>
          </a:xfrm>
          <a:prstGeom prst="ellipse">
            <a:avLst/>
          </a:prstGeom>
          <a:solidFill>
            <a:srgbClr val="2E7D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108960" y="15727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880360" y="2377440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2E7D52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880360" y="2377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60320" y="27889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Walkthrough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560320" y="333756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 Admin → App Builder → EDS storefront, end to end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1417320"/>
            <a:ext cx="2011680" cy="3200400"/>
          </a:xfrm>
          <a:prstGeom prst="roundRect">
            <a:avLst>
              <a:gd name="adj" fmla="val 5455"/>
            </a:avLst>
          </a:prstGeom>
          <a:solidFill>
            <a:srgbClr val="F5F7FA"/>
          </a:solidFill>
          <a:ln w="12700">
            <a:solidFill>
              <a:srgbClr val="E4E8E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257800" y="1572768"/>
            <a:ext cx="640080" cy="640080"/>
          </a:xfrm>
          <a:prstGeom prst="ellipse">
            <a:avLst/>
          </a:prstGeom>
          <a:solidFill>
            <a:srgbClr val="B85C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257800" y="15727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5029200" y="2377440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B85C0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0" y="2377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09160" y="27889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Learnings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09160" y="333756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hit, what we fixed, what we learned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720840" y="1417320"/>
            <a:ext cx="2011680" cy="3200400"/>
          </a:xfrm>
          <a:prstGeom prst="roundRect">
            <a:avLst>
              <a:gd name="adj" fmla="val 5455"/>
            </a:avLst>
          </a:prstGeom>
          <a:solidFill>
            <a:srgbClr val="F5F7FA"/>
          </a:solidFill>
          <a:ln w="12700">
            <a:solidFill>
              <a:srgbClr val="E4E8E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406640" y="1572768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406640" y="15727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7178040" y="2377440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1B2A4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178040" y="2377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58000" y="27889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858000" y="333756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feedback from the cohort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OVERVIEW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Parts Supply (APS)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5029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Mid-sized industrial distributor serving manufacturing plants, maintenance teams, and contractors across North America.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10,000 industrial products: machinery, hydraulic components, precision tools, and fasteners.  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buyers: procurement managers and maintenance engineers who know exactly what they need, search for it, open the PDP, and decide quickly.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760720" y="1325880"/>
            <a:ext cx="28346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760720" y="1325880"/>
            <a:ext cx="201168" cy="105156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035040" y="14173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10,000+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035040" y="18562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Products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760720" y="2560320"/>
            <a:ext cx="28346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760720" y="2560320"/>
            <a:ext cx="201168" cy="1051560"/>
          </a:xfrm>
          <a:prstGeom prst="rect">
            <a:avLst/>
          </a:prstGeom>
          <a:solidFill>
            <a:srgbClr val="3D52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035040" y="26517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D5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035040" y="309067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&amp; Maintenance Teams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60720" y="3794760"/>
            <a:ext cx="28346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760720" y="3794760"/>
            <a:ext cx="201168" cy="1051560"/>
          </a:xfrm>
          <a:prstGeom prst="rect">
            <a:avLst/>
          </a:prstGeom>
          <a:solidFill>
            <a:srgbClr val="2E7D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035040" y="3886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 America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035040" y="43251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Reach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Missed Opportunity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937760" cy="3474720"/>
          </a:xfrm>
          <a:prstGeom prst="roundRect">
            <a:avLst>
              <a:gd name="adj" fmla="val 3158"/>
            </a:avLst>
          </a:prstGeom>
          <a:solidFill>
            <a:srgbClr val="F5F7FA"/>
          </a:solidFill>
          <a:ln w="12700">
            <a:solidFill>
              <a:srgbClr val="E4E8E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Shopper Scenario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847088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maintenance manager searches for a hydraulic pump.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to them: the product is 35% off and only 12 units remain in stock.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visible signal on the product page. The buyer assumes it is a regular product, decides to purchase later — and eventually buys from another supplier after the stock is gone.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the customer and APS lose that opportunity.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0" y="1325880"/>
            <a:ext cx="292608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806440" y="1591056"/>
            <a:ext cx="457200" cy="457200"/>
          </a:xfrm>
          <a:prstGeom prst="ellipse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806440" y="1591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✕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55080" y="1527048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Clearance inventory sits unsold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0" y="2496312"/>
            <a:ext cx="292608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806440" y="2761488"/>
            <a:ext cx="457200" cy="457200"/>
          </a:xfrm>
          <a:prstGeom prst="ellipse">
            <a:avLst/>
          </a:prstGeom>
          <a:solidFill>
            <a:srgbClr val="B85C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806440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✕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55080" y="26974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Promotional opportunities missed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0" y="3666744"/>
            <a:ext cx="292608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806440" y="3931920"/>
            <a:ext cx="457200" cy="457200"/>
          </a:xfrm>
          <a:prstGeom prst="ellipse">
            <a:avLst/>
          </a:prstGeom>
          <a:solidFill>
            <a:srgbClr val="3D52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80644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✕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55080" y="3867912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buys from a competitor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Manager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critical product information directly on the PDP — at the exact moment buyers make their purchase decision.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402336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502920" cy="502920"/>
          </a:xfrm>
          <a:prstGeom prst="ellipse">
            <a:avLst/>
          </a:prstGeom>
          <a:solidFill>
            <a:srgbClr val="2E7D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19019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Badges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487168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Merchants define conditions once. Every product save triggers automatic evaluation in priority order.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Discount ≥ 30% → Clearance  ·  Updated in last 24h → New Arrival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737360"/>
            <a:ext cx="402336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983480" y="1874520"/>
            <a:ext cx="502920" cy="502920"/>
          </a:xfrm>
          <a:prstGeom prst="ellipse">
            <a:avLst/>
          </a:prstGeom>
          <a:solidFill>
            <a:srgbClr val="3D52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8348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623560" y="19019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Assignments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83480" y="2487168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any badge directly to a specific SKU for special business cases — curated picks, campaigns, featured items.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lower priority than rule-based badges.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4988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EXAMPLES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" y="4736592"/>
            <a:ext cx="1600200" cy="292608"/>
          </a:xfrm>
          <a:prstGeom prst="roundRect">
            <a:avLst>
              <a:gd name="adj" fmla="val 25000"/>
            </a:avLst>
          </a:pr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473659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Clearance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176272" y="4736592"/>
            <a:ext cx="1600200" cy="292608"/>
          </a:xfrm>
          <a:prstGeom prst="roundRect">
            <a:avLst>
              <a:gd name="adj" fmla="val 25000"/>
            </a:avLst>
          </a:prstGeom>
          <a:solidFill>
            <a:srgbClr val="2E7D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176272" y="473659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Arrival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895344" y="4736592"/>
            <a:ext cx="1600200" cy="292608"/>
          </a:xfrm>
          <a:prstGeom prst="roundRect">
            <a:avLst>
              <a:gd name="adj" fmla="val 25000"/>
            </a:avLst>
          </a:prstGeom>
          <a:solidFill>
            <a:srgbClr val="B85C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895344" y="473659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Stock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14416" y="4736592"/>
            <a:ext cx="1600200" cy="292608"/>
          </a:xfrm>
          <a:prstGeom prst="roundRect">
            <a:avLst>
              <a:gd name="adj" fmla="val 25000"/>
            </a:avLst>
          </a:prstGeom>
          <a:solidFill>
            <a:srgbClr val="3D52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614416" y="473659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Pick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33488" y="4736592"/>
            <a:ext cx="1600200" cy="292608"/>
          </a:xfrm>
          <a:prstGeom prst="roundRect">
            <a:avLst>
              <a:gd name="adj" fmla="val 25000"/>
            </a:avLst>
          </a:prstGeom>
          <a:solidFill>
            <a:srgbClr val="7B2F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333488" y="473659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&amp; KPIs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Success Looks Like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1508760"/>
          </a:xfrm>
          <a:prstGeom prst="roundRect">
            <a:avLst>
              <a:gd name="adj" fmla="val 7273"/>
            </a:avLst>
          </a:prstGeom>
          <a:solidFill>
            <a:srgbClr val="F5F7FA"/>
          </a:solidFill>
          <a:ln w="12700">
            <a:solidFill>
              <a:srgbClr val="E4E8E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02920" cy="502920"/>
          </a:xfrm>
          <a:prstGeom prst="ellipse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48132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Clearance Velocity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847088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time-sensitive and discounted inventory faster by making the offer visible at decision time on the PDP.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4023360" cy="1508760"/>
          </a:xfrm>
          <a:prstGeom prst="roundRect">
            <a:avLst>
              <a:gd name="adj" fmla="val 7273"/>
            </a:avLst>
          </a:prstGeom>
          <a:solidFill>
            <a:srgbClr val="F5F7FA"/>
          </a:solidFill>
          <a:ln w="12700">
            <a:solidFill>
              <a:srgbClr val="E4E8E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937760" y="1874520"/>
            <a:ext cx="502920" cy="502920"/>
          </a:xfrm>
          <a:prstGeom prst="ellipse">
            <a:avLst/>
          </a:prstGeom>
          <a:solidFill>
            <a:srgbClr val="2E7D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3776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577840" y="148132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Lift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77840" y="1847088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add-to-cart rate on promoted products by surfacing urgency and value signals when buyers are deciding.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063240"/>
            <a:ext cx="4023360" cy="1508760"/>
          </a:xfrm>
          <a:prstGeom prst="roundRect">
            <a:avLst>
              <a:gd name="adj" fmla="val 7273"/>
            </a:avLst>
          </a:prstGeom>
          <a:solidFill>
            <a:srgbClr val="F5F7FA"/>
          </a:solidFill>
          <a:ln w="12700">
            <a:solidFill>
              <a:srgbClr val="E4E8E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0080" y="3566160"/>
            <a:ext cx="502920" cy="502920"/>
          </a:xfrm>
          <a:prstGeom prst="ellipse">
            <a:avLst/>
          </a:prstGeom>
          <a:solidFill>
            <a:srgbClr val="B85C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317296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PDP Engagement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3538728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bounce rate on promotional PDPs. Buyers who see a badge engage longer and are more likely to return.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063240"/>
            <a:ext cx="4023360" cy="1508760"/>
          </a:xfrm>
          <a:prstGeom prst="roundRect">
            <a:avLst>
              <a:gd name="adj" fmla="val 7273"/>
            </a:avLst>
          </a:prstGeom>
          <a:solidFill>
            <a:srgbClr val="F5F7FA"/>
          </a:solidFill>
          <a:ln w="12700">
            <a:solidFill>
              <a:srgbClr val="E4E8E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937760" y="3566160"/>
            <a:ext cx="502920" cy="502920"/>
          </a:xfrm>
          <a:prstGeom prst="ellipse">
            <a:avLst/>
          </a:prstGeom>
          <a:solidFill>
            <a:srgbClr val="3D52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3776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577840" y="317296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Reduction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77840" y="3538728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"Is this still on sale?" customer queries as product status is visible at a glance on the product page.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All Connects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0040" y="1024128"/>
            <a:ext cx="8503920" cy="3749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 Admin (Admin UI SDK)  ·  App Builder — 12 actions + evaluator.js  ·  aio-lib-db (5 collections)  ·  EDS Storefront PDP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 — SURFACE 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 Admin: Badge Manager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D5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21284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&gt; Badge Manager &gt; Badge Admin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Show: Manage Rules tab with a saved rule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Assignments tab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Badges read-only 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522040" y="1325880"/>
            <a:ext cx="333756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640912" y="1609344"/>
            <a:ext cx="457200" cy="457200"/>
          </a:xfrm>
          <a:prstGeom prst="ellipse">
            <a:avLst/>
          </a:prstGeom>
          <a:solidFill>
            <a:srgbClr val="3D52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640912" y="1609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89552" y="13990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Rules Tab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89552" y="174650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badge conditions: Discount %, recently updated, custom. Set priority order. Rules evaluated in ascending priority when a product is saved.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522040" y="2575512"/>
            <a:ext cx="333756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640912" y="2858976"/>
            <a:ext cx="457200" cy="457200"/>
          </a:xfrm>
          <a:prstGeom prst="ellipse">
            <a:avLst/>
          </a:prstGeom>
          <a:solidFill>
            <a:srgbClr val="3D52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640912" y="2858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89552" y="264866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Assignments Tab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89552" y="299613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any badge directly to a SKU. Useful for curated picks and campaign overrides. Always lower priority than rule-based badges.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22040" y="3853944"/>
            <a:ext cx="333756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640912" y="4137408"/>
            <a:ext cx="457200" cy="457200"/>
          </a:xfrm>
          <a:prstGeom prst="ellipse">
            <a:avLst/>
          </a:prstGeom>
          <a:solidFill>
            <a:srgbClr val="3D52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640912" y="4137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89552" y="392709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Badges Tab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89552" y="42745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view of all badge_state records. Verify what badge each product currently carries and when it was last evaluated.</a:t>
            </a:r>
            <a:endParaRPr lang="en-US" sz="10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FCF4277-6D53-D94C-B457-0145AFAED2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072" y="1325880"/>
            <a:ext cx="5097240" cy="358444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 — SURFACE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Builder: 12 Actions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20040" y="1325880"/>
            <a:ext cx="2880360" cy="347472"/>
          </a:xfrm>
          <a:prstGeom prst="roundRect">
            <a:avLst>
              <a:gd name="adj" fmla="val 21053"/>
            </a:avLst>
          </a:prstGeom>
          <a:solidFill>
            <a:srgbClr val="2E7D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132588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CRUD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719072"/>
            <a:ext cx="2880360" cy="3063240"/>
          </a:xfrm>
          <a:prstGeom prst="roundRect">
            <a:avLst>
              <a:gd name="adj" fmla="val 2540"/>
            </a:avLst>
          </a:prstGeom>
          <a:solidFill>
            <a:srgbClr val="F5F7FA"/>
          </a:solidFill>
          <a:ln w="12700">
            <a:solidFill>
              <a:srgbClr val="E4E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81051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save-badge-rule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13969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get-badge-rules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delete-badge-rule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79806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save-static-assignment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12724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get-static-assignments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45643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delete-static-assignment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78561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get-products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11480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get-badge-catalog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44398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get-badge-states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37560" y="1325880"/>
            <a:ext cx="2606040" cy="347472"/>
          </a:xfrm>
          <a:prstGeom prst="roundRect">
            <a:avLst>
              <a:gd name="adj" fmla="val 21053"/>
            </a:avLst>
          </a:prstGeom>
          <a:solidFill>
            <a:srgbClr val="B85C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37560" y="132588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STOREFRONT READ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37560" y="1719072"/>
            <a:ext cx="2606040" cy="3063240"/>
          </a:xfrm>
          <a:prstGeom prst="roundRect">
            <a:avLst>
              <a:gd name="adj" fmla="val 2807"/>
            </a:avLst>
          </a:prstGeom>
          <a:solidFill>
            <a:srgbClr val="F5F7FA"/>
          </a:solidFill>
          <a:ln w="12700">
            <a:solidFill>
              <a:srgbClr val="E4E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474720" y="181051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product-badge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74720" y="213969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(CORS restricted)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74720" y="246888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web-custom-options: true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80760" y="1325880"/>
            <a:ext cx="2606040" cy="347472"/>
          </a:xfrm>
          <a:prstGeom prst="roundRect">
            <a:avLst>
              <a:gd name="adj" fmla="val 21053"/>
            </a:avLst>
          </a:prstGeom>
          <a:solidFill>
            <a:srgbClr val="3D52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080760" y="132588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PROCESSING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80760" y="1729705"/>
            <a:ext cx="2606040" cy="3063240"/>
          </a:xfrm>
          <a:prstGeom prst="roundRect">
            <a:avLst>
              <a:gd name="adj" fmla="val 2807"/>
            </a:avLst>
          </a:prstGeom>
          <a:solidFill>
            <a:srgbClr val="F5F7FA"/>
          </a:solidFill>
          <a:ln w="12700">
            <a:solidFill>
              <a:srgbClr val="E4E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217920" y="181051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5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product-event-consumer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17920" y="213969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(non-web, I/O Events, Idempotency check)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17920" y="246888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evaluator.js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17920" y="279806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(rule priority engine)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" y="4846320"/>
            <a:ext cx="8503920" cy="256032"/>
          </a:xfrm>
          <a:prstGeom prst="roundRect">
            <a:avLst>
              <a:gd name="adj" fmla="val 21429"/>
            </a:avLst>
          </a:prstGeom>
          <a:solidFill>
            <a:srgbClr val="FFF8E8"/>
          </a:solidFill>
          <a:ln w="12700">
            <a:solidFill>
              <a:srgbClr val="F0C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7200" y="4846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5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setup: setup-collections initialises all 5 aio-lib-db collections and seeds badge_catalog with 10 badge definitions.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 — SURFACE 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EDS Storefront: PDP Badge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3192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" y="1609344"/>
            <a:ext cx="457200" cy="457200"/>
          </a:xfrm>
          <a:prstGeom prst="ellipse">
            <a:avLst/>
          </a:prstGeom>
          <a:solidFill>
            <a:srgbClr val="B85C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609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70432" y="13990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Load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70432" y="174650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PDP block calls product-badge: GET ?sku=APS-4848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393192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94360" y="2798064"/>
            <a:ext cx="457200" cy="457200"/>
          </a:xfrm>
          <a:prstGeom prst="ellipse">
            <a:avLst/>
          </a:prstGeom>
          <a:solidFill>
            <a:srgbClr val="B85C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2798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70432" y="25877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Resolution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70432" y="293522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reads badge_state, resolves label from badge_catalog, returns badge_id + badge_label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703320"/>
            <a:ext cx="393192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94360" y="3986784"/>
            <a:ext cx="457200" cy="457200"/>
          </a:xfrm>
          <a:prstGeom prst="ellipse">
            <a:avLst/>
          </a:prstGeom>
          <a:solidFill>
            <a:srgbClr val="B85C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3986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70432" y="37764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 Renders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70432" y="412394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badge_id is non-null, a styled chip appears below the product title with the badge label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63440" y="17373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663440" y="221284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/products/automated-positioning-system/aps-4848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46320" y="260604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5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Show: badge chip below the product title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A5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 "Clearance" or "New Arrival" chip)</a:t>
            </a:r>
            <a:endParaRPr lang="en-US" sz="10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7511BD3-9BA7-E3D5-C419-7260618BAE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7842" y="1312258"/>
            <a:ext cx="3403122" cy="34151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DECISIONS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Choices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4114800" cy="3520440"/>
          </a:xfrm>
          <a:prstGeom prst="roundRect">
            <a:avLst>
              <a:gd name="adj" fmla="val 3117"/>
            </a:avLst>
          </a:prstGeom>
          <a:solidFill>
            <a:srgbClr val="F5F7FA"/>
          </a:solidFill>
          <a:ln w="12700">
            <a:solidFill>
              <a:srgbClr val="E4E8E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502920" cy="502920"/>
          </a:xfrm>
          <a:prstGeom prst="ellipse">
            <a:avLst/>
          </a:prstGeom>
          <a:solidFill>
            <a:srgbClr val="2E7D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481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70432" y="15087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API: Independent Deployability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action is a single-responsibility unit. Any one action deploys independently without touching the rest.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iteration, isolated failures, and clear ownership per operation.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3749040" cy="384048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32004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F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aio app deploy -a product-badge --no-web-assets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657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product-badge with any action name to deploy individually.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325880"/>
            <a:ext cx="4114800" cy="3520440"/>
          </a:xfrm>
          <a:prstGeom prst="roundRect">
            <a:avLst>
              <a:gd name="adj" fmla="val 3117"/>
            </a:avLst>
          </a:prstGeom>
          <a:solidFill>
            <a:srgbClr val="F5F7FA"/>
          </a:solidFill>
          <a:ln w="12700">
            <a:solidFill>
              <a:srgbClr val="E4E8E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46320" y="1481328"/>
            <a:ext cx="502920" cy="502920"/>
          </a:xfrm>
          <a:prstGeom prst="ellipse">
            <a:avLst/>
          </a:prstGeom>
          <a:solidFill>
            <a:srgbClr val="3D52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46320" y="1481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68112" y="15087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5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Approach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20848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via web-custom-options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235915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the App Builder runtime from injecting Access-Control-Allow-Origin: * and merging it with the action's own header. Restricted to storefront domains and localhost.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29992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IMS S2S for aio-lib-db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327355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IMS OAuth Server-to-Server credentials generate access tokens per invocation. Token never stored. Credentials live in .env, never committed.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39136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management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418795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excluded from git via .gitignore. All IMS and Commerce credentials configured as environment variables only.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LEARNINGS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Hit. What We Learned.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664208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243558"/>
          </a:solidFill>
          <a:ln w="12700">
            <a:solidFill>
              <a:srgbClr val="3A4F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8368" y="1773936"/>
            <a:ext cx="3621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Double-Header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8368" y="2121408"/>
            <a:ext cx="36210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Builder runtime injects Access-Control-Allow-Origin: * regardless of the action's own header, causing a MultipleAllowOriginValues browser error.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web-custom-options: true annotation stops the runtime injection entirely — the action controls CORS on its own.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3328416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243558"/>
          </a:solidFill>
          <a:ln w="12700">
            <a:solidFill>
              <a:srgbClr val="3A4F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8368" y="3438144"/>
            <a:ext cx="3621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IMS Token for Admin Mutations (WIP)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" y="3785616"/>
            <a:ext cx="36210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IMS tokens from App.js to enable require-adobe-auth: true on save and delete actions did not work as expected. Admin mutation actions are currently open. Documented as a known limitation.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63440" y="13258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664208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1F3E2A"/>
          </a:solidFill>
          <a:ln w="12700">
            <a:solidFill>
              <a:srgbClr val="3A6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64608" y="1773936"/>
            <a:ext cx="3621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with the Commerce Command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64608" y="2121408"/>
            <a:ext cx="36210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0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 app init is generic App Builder — it does not generate commerce/extensibility/1, install.yaml, or app.commerce.config.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these, Commerce Admin rejects the app. Correct command: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npx @adobe/aio-commerce-lib-app init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3328416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1F3E2A"/>
          </a:solidFill>
          <a:ln w="12700">
            <a:solidFill>
              <a:srgbClr val="3A6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64608" y="3438144"/>
            <a:ext cx="3621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Live in Developer Console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64608" y="3785616"/>
            <a:ext cx="36210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0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aio app logs CLI command is unreliable for real-time debugging.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action output: Developer Console &gt; App Builder Logs, filter by action name.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event delivery: Developer Console &gt; DP Capstone Event &gt; Debug Tracing.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2926080" cy="2926080"/>
          </a:xfrm>
          <a:prstGeom prst="ellipse">
            <a:avLst/>
          </a:prstGeom>
          <a:solidFill>
            <a:srgbClr val="CC0000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548640" y="3474720"/>
            <a:ext cx="2194560" cy="2194560"/>
          </a:xfrm>
          <a:prstGeom prst="ellipse">
            <a:avLst/>
          </a:prstGeom>
          <a:solidFill>
            <a:srgbClr val="2E7D52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to the ACCS cohort and instructors.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3246120"/>
            <a:ext cx="3749040" cy="384048"/>
          </a:xfrm>
          <a:prstGeom prst="roundRect">
            <a:avLst>
              <a:gd name="adj" fmla="val 23810"/>
            </a:avLst>
          </a:prstGeom>
          <a:solidFill>
            <a:srgbClr val="2E7D52">
              <a:alpha val="30000"/>
            </a:srgbClr>
          </a:solidFill>
          <a:ln w="12700">
            <a:solidFill>
              <a:srgbClr val="2E7D52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32461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Builder  →  github.com/dpadobe/capstone-appbuilder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0" y="3246120"/>
            <a:ext cx="3749040" cy="384048"/>
          </a:xfrm>
          <a:prstGeom prst="roundRect">
            <a:avLst>
              <a:gd name="adj" fmla="val 23810"/>
            </a:avLst>
          </a:prstGeom>
          <a:solidFill>
            <a:srgbClr val="B85C00">
              <a:alpha val="30000"/>
            </a:srgbClr>
          </a:solidFill>
          <a:ln w="12700">
            <a:solidFill>
              <a:srgbClr val="B85C0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0" y="32461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Storefront   →  github.com/dpadobe/dpcom-storefront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Manager  ·  Apex Parts Supply  ·  ACCS Capstone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1718</Words>
  <Application>Microsoft Macintosh PowerPoint</Application>
  <PresentationFormat>On-screen Show (16:9)</PresentationFormat>
  <Paragraphs>207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Badge Manager — Adobe Commerce App Builder Capstone</dc:title>
  <dc:subject>PptxGenJS Presentation</dc:subject>
  <dc:creator>PptxGenJS</dc:creator>
  <cp:lastModifiedBy>Dharmendra Patri</cp:lastModifiedBy>
  <cp:revision>3</cp:revision>
  <dcterms:created xsi:type="dcterms:W3CDTF">2026-06-25T10:38:48Z</dcterms:created>
  <dcterms:modified xsi:type="dcterms:W3CDTF">2026-06-25T16:09:51Z</dcterms:modified>
</cp:coreProperties>
</file>